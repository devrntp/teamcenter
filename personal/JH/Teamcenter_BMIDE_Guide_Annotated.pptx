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Teamcenter BMIDE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9BA5"/>
                </a:solidFill>
              </a:defRPr>
            </a:pPr>
            <a:r>
              <a:t>화면 구성 가이드 - 이미지 주석 버전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BMIDE 전체 화면 레이아웃</a:t>
            </a:r>
          </a:p>
        </p:txBody>
      </p:sp>
      <p:pic>
        <p:nvPicPr>
          <p:cNvPr id="4" name="Picture 3" descr="bmide_annotate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6858000" cy="45608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914400"/>
            <a:ext cx="475488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3232"/>
                </a:solidFill>
              </a:defRPr>
            </a:pPr>
            <a:r>
              <a:t>❶ 메뉴 바: File, BMIDE, Navigate, Search, Project, Run, Window, Help</a:t>
            </a:r>
          </a:p>
          <a:p>
            <a:pPr>
              <a:spcAft>
                <a:spcPts val="800"/>
              </a:spcAft>
              <a:defRPr sz="1400" b="1">
                <a:solidFill>
                  <a:srgbClr val="3264FF"/>
                </a:solidFill>
              </a:defRPr>
            </a:pPr>
            <a:r>
              <a:t>❷ 툴바: 저장, 열기, 실행, Launch Configurations 등</a:t>
            </a:r>
          </a:p>
          <a:p>
            <a:pPr>
              <a:spcAft>
                <a:spcPts val="800"/>
              </a:spcAft>
              <a:defRPr sz="1400" b="1">
                <a:solidFill>
                  <a:srgbClr val="32C864"/>
                </a:solidFill>
              </a:defRPr>
            </a:pPr>
            <a:r>
              <a:t>❸ 트리 네비게이터: Business Objects, Classes, Navigator 탭</a:t>
            </a:r>
          </a:p>
          <a:p>
            <a:pPr>
              <a:spcAft>
                <a:spcPts val="800"/>
              </a:spcAft>
              <a:defRPr sz="1400" b="1">
                <a:solidFill>
                  <a:srgbClr val="FF9632"/>
                </a:solidFill>
              </a:defRPr>
            </a:pPr>
            <a:r>
              <a:t>❹ 편집 영역: 선택된 Business Object 상세 정보</a:t>
            </a:r>
          </a:p>
          <a:p>
            <a:pPr>
              <a:spcAft>
                <a:spcPts val="800"/>
              </a:spcAft>
              <a:defRPr sz="1400" b="1">
                <a:solidFill>
                  <a:srgbClr val="9632C8"/>
                </a:solidFill>
              </a:defRPr>
            </a:pPr>
            <a:r>
              <a:t>❺ 탭 메뉴: Main, Properties, Operations, Display Rules 등</a:t>
            </a:r>
          </a:p>
          <a:p>
            <a:pPr>
              <a:spcAft>
                <a:spcPts val="800"/>
              </a:spcAft>
              <a:defRPr sz="1400" b="1">
                <a:solidFill>
                  <a:srgbClr val="009BA5"/>
                </a:solidFill>
              </a:defRPr>
            </a:pPr>
            <a:r>
              <a:t>❻ Business Object Constants: 상수 테이블</a:t>
            </a:r>
          </a:p>
          <a:p>
            <a:pPr>
              <a:spcAft>
                <a:spcPts val="800"/>
              </a:spcAft>
              <a:defRPr sz="1400" b="1">
                <a:solidFill>
                  <a:srgbClr val="FFB432"/>
                </a:solidFill>
              </a:defRPr>
            </a:pPr>
            <a:r>
              <a:t>❼ Extensions/Console: 확장 및 출력 패널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Business Object 상세 필드</a:t>
            </a:r>
          </a:p>
        </p:txBody>
      </p:sp>
      <p:pic>
        <p:nvPicPr>
          <p:cNvPr id="4" name="Picture 3" descr="bmide_annotated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6858000" cy="45340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914400"/>
            <a:ext cx="475488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3232"/>
                </a:solidFill>
              </a:defRPr>
            </a:pPr>
            <a:r>
              <a:t>❶ Project: 현재 프로젝트명 (a2custom)</a:t>
            </a:r>
          </a:p>
          <a:p>
            <a:pPr>
              <a:spcAft>
                <a:spcPts val="800"/>
              </a:spcAft>
              <a:defRPr sz="1400" b="1">
                <a:solidFill>
                  <a:srgbClr val="3264FF"/>
                </a:solidFill>
              </a:defRPr>
            </a:pPr>
            <a:r>
              <a:t>❷ Name: 오브젝트 내부 이름 (A2_custItem)</a:t>
            </a:r>
          </a:p>
          <a:p>
            <a:pPr>
              <a:spcAft>
                <a:spcPts val="800"/>
              </a:spcAft>
              <a:defRPr sz="1400" b="1">
                <a:solidFill>
                  <a:srgbClr val="32C864"/>
                </a:solidFill>
              </a:defRPr>
            </a:pPr>
            <a:r>
              <a:t>❸ Display Name: 화면 표시 이름 (cust Item)</a:t>
            </a:r>
          </a:p>
          <a:p>
            <a:pPr>
              <a:spcAft>
                <a:spcPts val="800"/>
              </a:spcAft>
              <a:defRPr sz="1400" b="1">
                <a:solidFill>
                  <a:srgbClr val="FF9632"/>
                </a:solidFill>
              </a:defRPr>
            </a:pPr>
            <a:r>
              <a:t>❹ Storage Class: 저장소 클래스 타입</a:t>
            </a:r>
          </a:p>
          <a:p>
            <a:pPr>
              <a:spcAft>
                <a:spcPts val="800"/>
              </a:spcAft>
              <a:defRPr sz="1400" b="1">
                <a:solidFill>
                  <a:srgbClr val="9632C8"/>
                </a:solidFill>
              </a:defRPr>
            </a:pPr>
            <a:r>
              <a:t>❺ Parent/Item Revision/Form: 상속 관계 및 연결 폼</a:t>
            </a:r>
          </a:p>
          <a:p>
            <a:pPr>
              <a:spcAft>
                <a:spcPts val="800"/>
              </a:spcAft>
              <a:defRPr sz="1400" b="1">
                <a:solidFill>
                  <a:srgbClr val="009BA5"/>
                </a:solidFill>
              </a:defRPr>
            </a:pPr>
            <a:r>
              <a:t>❻ Type 옵션: Persistent, Abstract, Exportable 등</a:t>
            </a:r>
          </a:p>
          <a:p>
            <a:pPr>
              <a:spcAft>
                <a:spcPts val="800"/>
              </a:spcAft>
              <a:defRPr sz="1400" b="1">
                <a:solidFill>
                  <a:srgbClr val="FFB432"/>
                </a:solidFill>
              </a:defRPr>
            </a:pPr>
            <a:r>
              <a:t>❼ Teamcenter Component: TC 컴포넌트 연결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BMIDE 메뉴 기능</a:t>
            </a:r>
          </a:p>
        </p:txBody>
      </p:sp>
      <p:pic>
        <p:nvPicPr>
          <p:cNvPr id="4" name="Picture 3" descr="bmide_annotated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6858000" cy="55036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914400"/>
            <a:ext cx="475488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3232"/>
                </a:solidFill>
              </a:defRPr>
            </a:pPr>
            <a:r>
              <a:t>❶ New Model Element: 새 모델 요소 생성 (Ctrl+N)</a:t>
            </a:r>
          </a:p>
          <a:p>
            <a:pPr>
              <a:spcAft>
                <a:spcPts val="800"/>
              </a:spcAft>
              <a:defRPr sz="1400" b="1">
                <a:solidFill>
                  <a:srgbClr val="3264FF"/>
                </a:solidFill>
              </a:defRPr>
            </a:pPr>
            <a:r>
              <a:t>❷ New Composite Software Project: 복합 프로젝트 생성</a:t>
            </a:r>
          </a:p>
          <a:p>
            <a:pPr>
              <a:spcAft>
                <a:spcPts val="800"/>
              </a:spcAft>
              <a:defRPr sz="1400" b="1">
                <a:solidFill>
                  <a:srgbClr val="32C864"/>
                </a:solidFill>
              </a:defRPr>
            </a:pPr>
            <a:r>
              <a:t>❸ Find: 요소 검색</a:t>
            </a:r>
          </a:p>
          <a:p>
            <a:pPr>
              <a:spcAft>
                <a:spcPts val="800"/>
              </a:spcAft>
              <a:defRPr sz="1400" b="1">
                <a:solidFill>
                  <a:srgbClr val="FF9632"/>
                </a:solidFill>
              </a:defRPr>
            </a:pPr>
            <a:r>
              <a:t>❹ Save Data Model: 데이터 모델 저장 (Ctrl+Shift+S)</a:t>
            </a:r>
          </a:p>
          <a:p>
            <a:pPr>
              <a:spcAft>
                <a:spcPts val="800"/>
              </a:spcAft>
              <a:defRPr sz="1400" b="1">
                <a:solidFill>
                  <a:srgbClr val="9632C8"/>
                </a:solidFill>
              </a:defRPr>
            </a:pPr>
            <a:r>
              <a:t>❺ Reload Data Model: 서버에서 다시 불러오기</a:t>
            </a:r>
          </a:p>
          <a:p>
            <a:pPr>
              <a:spcAft>
                <a:spcPts val="800"/>
              </a:spcAft>
              <a:defRPr sz="1400" b="1">
                <a:solidFill>
                  <a:srgbClr val="009BA5"/>
                </a:solidFill>
              </a:defRPr>
            </a:pPr>
            <a:r>
              <a:t>❻ Generate Software Package: 배포 패키지 생성</a:t>
            </a:r>
          </a:p>
          <a:p>
            <a:pPr>
              <a:spcAft>
                <a:spcPts val="800"/>
              </a:spcAft>
              <a:defRPr sz="1400" b="1">
                <a:solidFill>
                  <a:srgbClr val="FFB432"/>
                </a:solidFill>
              </a:defRPr>
            </a:pPr>
            <a:r>
              <a:t>❼ Deploy Template: 템플릿 서버 배포 (Ctrl+Shift+D)</a:t>
            </a:r>
          </a:p>
          <a:p>
            <a:pPr>
              <a:spcAft>
                <a:spcPts val="800"/>
              </a:spcAft>
              <a:defRPr sz="1400" b="1">
                <a:solidFill>
                  <a:srgbClr val="FF3232"/>
                </a:solidFill>
              </a:defRPr>
            </a:pPr>
            <a:r>
              <a:t>❽ Live Update: 실시간 변경사항 반영</a:t>
            </a:r>
          </a:p>
          <a:p>
            <a:pPr>
              <a:spcAft>
                <a:spcPts val="800"/>
              </a:spcAft>
              <a:defRPr sz="1400" b="1">
                <a:solidFill>
                  <a:srgbClr val="3264FF"/>
                </a:solidFill>
              </a:defRPr>
            </a:pPr>
            <a:r>
              <a:t>❾ Editors: 속성/LOV 에디터 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