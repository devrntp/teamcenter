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Teamcenter BMIDE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C8D2"/>
                </a:solidFill>
              </a:defRPr>
            </a:pPr>
            <a:r>
              <a:t>Business Modeler IDE 화면 구성 가이드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5486400"/>
            <a:ext cx="6705295" cy="45720"/>
          </a:xfrm>
          <a:prstGeom prst="rect">
            <a:avLst/>
          </a:prstGeom>
          <a:solidFill>
            <a:srgbClr val="009B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목차 (Contents)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3C71"/>
                </a:solidFill>
              </a:defRPr>
            </a:pPr>
            <a:r>
              <a:t>1. BMIDE 개요</a:t>
            </a:r>
          </a:p>
          <a:p>
            <a:pPr>
              <a:spcAft>
                <a:spcPts val="800"/>
              </a:spcAft>
              <a:defRPr sz="2200" b="1">
                <a:solidFill>
                  <a:srgbClr val="003C71"/>
                </a:solidFill>
              </a:defRPr>
            </a:pPr>
            <a:r>
              <a:t>2. 전체 화면 레이아웃</a:t>
            </a:r>
          </a:p>
          <a:p>
            <a:pPr>
              <a:spcAft>
                <a:spcPts val="800"/>
              </a:spcAft>
              <a:defRPr sz="2200" b="1">
                <a:solidFill>
                  <a:srgbClr val="003C71"/>
                </a:solidFill>
              </a:defRPr>
            </a:pPr>
            <a:r>
              <a:t>3. 트리 네비게이터 (Tree Navigator)</a:t>
            </a:r>
          </a:p>
          <a:p>
            <a:pPr>
              <a:spcAft>
                <a:spcPts val="800"/>
              </a:spcAft>
              <a:defRPr sz="2200" b="1">
                <a:solidFill>
                  <a:srgbClr val="003C71"/>
                </a:solidFill>
              </a:defRPr>
            </a:pPr>
            <a:r>
              <a:t>4. Business Object 편집 영역</a:t>
            </a:r>
          </a:p>
          <a:p>
            <a:pPr>
              <a:spcAft>
                <a:spcPts val="800"/>
              </a:spcAft>
              <a:defRPr sz="2200" b="1">
                <a:solidFill>
                  <a:srgbClr val="003C71"/>
                </a:solidFill>
              </a:defRPr>
            </a:pPr>
            <a:r>
              <a:t>5. 탭 메뉴 상세</a:t>
            </a:r>
          </a:p>
          <a:p>
            <a:pPr>
              <a:spcAft>
                <a:spcPts val="800"/>
              </a:spcAft>
              <a:defRPr sz="2200" b="1">
                <a:solidFill>
                  <a:srgbClr val="003C71"/>
                </a:solidFill>
              </a:defRPr>
            </a:pPr>
            <a:r>
              <a:t>6. Business Object Constants</a:t>
            </a:r>
          </a:p>
          <a:p>
            <a:pPr>
              <a:spcAft>
                <a:spcPts val="800"/>
              </a:spcAft>
              <a:defRPr sz="2200" b="1">
                <a:solidFill>
                  <a:srgbClr val="003C71"/>
                </a:solidFill>
              </a:defRPr>
            </a:pPr>
            <a:r>
              <a:t>7. BMIDE 메뉴 기능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1. BMIDE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009BA5"/>
                </a:solidFill>
              </a:defRPr>
            </a:pPr>
            <a:r>
              <a:t>BMIDE (Business Modeler IDE)란?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Teamcenter 데이터 모델을 정의하고 커스터마이징하는 통합 개발 환경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Eclipse 기반의 개발 도구로, Teamcenter 서버의 비즈니스 오브젝트 구조를 설계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000" b="1">
                <a:solidFill>
                  <a:srgbClr val="009BA5"/>
                </a:solidFill>
              </a:defRPr>
            </a:pPr>
            <a:r>
              <a:t>주요 기능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Business Object (비즈니스 오브젝트) 생성 및 수정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속성 (Property) 정의 및 관리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LOV (List of Values) 설정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Display Rules 및 Operation 정의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데이터 모델 패키지 생성 및 배포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2. 전체 화면 레이아웃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009BA5"/>
                </a:solidFill>
              </a:defRPr>
            </a:pPr>
            <a:r>
              <a:t>BMIDE 주요 영역 구성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① 상단 메뉴 바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   File, BMIDE, Navigate, Search, Project, Run, Window, Help 메뉴 제공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② 툴바 (Toolbar)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   열기, 저장, 실행, Launch Configurations 등 빠른 접근 버튼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③ 좌측 트리 네비게이터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   Business Objects, Extensions, Classes 탭으로 구성된 탐색 패널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④ 중앙 편집 영역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   선택된 Business Object의 상세 정보를 편집하는 메인 작업 영역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800" b="1">
                <a:solidFill>
                  <a:srgbClr val="000000"/>
                </a:solidFill>
              </a:defRPr>
            </a:pPr>
            <a:r>
              <a:t>⑤ 하단 콘솔/출력 영역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   Extensions, Outline, Console 탭으로 구성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3. 트리 네비게이터 (Tree Navigator)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9BA5"/>
                </a:solidFill>
              </a:defRPr>
            </a:pPr>
            <a:r>
              <a:t>Business Objects 탭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프로젝트 내 모든 Business Object를 계층 구조로 표시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폴더 구조: a2custom &gt; Favorites &gt; Business Objects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000" b="1">
                <a:solidFill>
                  <a:srgbClr val="009BA5"/>
                </a:solidFill>
              </a:defRPr>
            </a:pPr>
            <a:r>
              <a:t>주요 Business Object 유형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Item - 기본 아이템 오브젝트 (제품, 부품 등)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Dataset - 첨부 파일 및 데이터셋 관리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Folder - 폴더 구조 정의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Form - 폼 오브젝트 정의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Document - 문서 관리 오브젝트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000" b="1">
                <a:solidFill>
                  <a:srgbClr val="009BA5"/>
                </a:solidFill>
              </a:defRPr>
            </a:pPr>
            <a:r>
              <a:t>확장 패널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Classes 탭 - 클래스 계층 구조 확인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Navigator 탭 - 빠른 탐색 기능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3-1. 트리 내 주요 오브젝트 종류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아이콘</a:t>
                      </a:r>
                    </a:p>
                  </a:txBody>
                  <a:tcPr>
                    <a:solidFill>
                      <a:srgbClr val="009B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오브젝트 타입</a:t>
                      </a:r>
                    </a:p>
                  </a:txBody>
                  <a:tcPr>
                    <a:solidFill>
                      <a:srgbClr val="009B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009BA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📁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Folder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폴더 구조 정의, 오브젝트 그룹화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기본 아이템 (부품, 제품, 문서 등)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📋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ItemRevision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Item의 리비전 관리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파일 첨부 및 데이터셋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📝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Form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입력 폼 정의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Company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회사/조직 정보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👤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Person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사용자 정보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도구 정의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📐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Design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설계 정보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🖼️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Drawing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도면 관리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4. Business Object 편집 영역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9BA5"/>
                </a:solidFill>
              </a:defRPr>
            </a:pPr>
            <a:r>
              <a:t>예시: A2_custItem 오브젝트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000" b="1">
                <a:solidFill>
                  <a:srgbClr val="003C71"/>
                </a:solidFill>
              </a:defRPr>
            </a:pPr>
            <a:r>
              <a:t>Details 섹션 필드 설명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Project: a2custom (현재 프로젝트명)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Name: A2_custItem (오브젝트 내부명)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Display Name: cust Item (화면 표시명)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Storage Class: A2_custItem (저장소 클래스)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Parent: Item (부모 오브젝트 - 상속 관계)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Item Revision: A2_custItemRevision (리비전 타입)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Form: A2_custItemMaster (연결된 폼)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Icon: Default (아이콘 설정)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Type: Persistent (영구 저장 타입)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4-1. Details 섹션 옵션 설명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100584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옵션</a:t>
                      </a:r>
                    </a:p>
                  </a:txBody>
                  <a:tcPr>
                    <a:solidFill>
                      <a:srgbClr val="009B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009B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체크 시 동작</a:t>
                      </a:r>
                    </a:p>
                  </a:txBody>
                  <a:tcPr>
                    <a:solidFill>
                      <a:srgbClr val="009BA5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Is Abstract?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추상 클래스 여부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인스턴스 생성 불가, 상속용으로만 사용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Is Exportable?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내보내기 가능 여부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데이터 내보내기 시 포함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Allow creating instances of Secondary Business Objects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2차 오브젝트 생성 허용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관련 오브젝트 자동 생성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Store as lightweight object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경량 오브젝트 저장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성능 최적화를 위한 경량 저장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5. 탭 메뉴 상세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9BA5"/>
                </a:solidFill>
              </a:defRPr>
            </a:pPr>
            <a:r>
              <a:t>Business Object 편집 탭 메뉴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Main - 기본 정보 및 속성 표시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Properties - 오브젝트의 속성(Property) 정의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Property Bulk Loaders - 대량 속성 로더 설정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Operations - 비즈니스 로직 및 작업 정의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Display Rules - 화면 표시 규칙 설정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Deep Copy Rules - 깊은 복사 규칙 정의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Alternate ID Rules - 대체 ID 규칙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GRM Rules - 관계 매핑 규칙 (Generic Relationship Mapping)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Operation Descriptor - 오퍼레이션 상세 정의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5-1. 탭별 상세 기능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62865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탭 이름</a:t>
                      </a:r>
                    </a:p>
                  </a:txBody>
                  <a:tcPr>
                    <a:solidFill>
                      <a:srgbClr val="009B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주요 기능</a:t>
                      </a:r>
                    </a:p>
                  </a:txBody>
                  <a:tcPr>
                    <a:solidFill>
                      <a:srgbClr val="009B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활용 예시</a:t>
                      </a:r>
                    </a:p>
                  </a:txBody>
                  <a:tcPr>
                    <a:solidFill>
                      <a:srgbClr val="009BA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Main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오브젝트 기본 정보 설정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Name, Display Name, Parent 설정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속성 정의 및 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사용자 정의 속성 추가, LOV 연결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Property Bulk Loaders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대량 데이터 로딩 설정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Excel 데이터 일괄 등록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비즈니스 로직 정의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생성/삭제/수정 시 동작 정의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Display Rules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UI 표시 규칙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필드 표시/숨김, 읽기전용 설정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Deep Copy Rules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복사 시 하위 객체 포함 규칙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Item 복사 시 Dataset 포함 여부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GRM Rules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관계 타입 매핑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오브젝트 간 연결 관계 정의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6. Business Object Constants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9BA5"/>
                </a:solidFill>
              </a:defRPr>
            </a:pPr>
            <a:r>
              <a:t>상수 테이블 구성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Business Object에 적용되는 상수값들을 정의하는 테이블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000" b="1">
                <a:solidFill>
                  <a:srgbClr val="003C71"/>
                </a:solidFill>
              </a:defRPr>
            </a:pPr>
            <a:r>
              <a:t>테이블 컬럼 설명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Name - 상수 이름 (예: Awb0AssociatedElem, Awb0EnableViewFor 등)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Value - 설정값 (true/false 등)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Overridden - 상위 클래스 값 오버라이드 여부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Allow Modification - 수정 가능 여부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Allow Override - 하위 클래스에서 오버라이드 가능 여부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COTS - Commercial Off-The-Shelf (표준 제공 여부)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Template - 적용 템플릿 (activeworks, aws2 등)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6-1. 주요 Business Object Constants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62865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상수명</a:t>
                      </a:r>
                    </a:p>
                  </a:txBody>
                  <a:tcPr>
                    <a:solidFill>
                      <a:srgbClr val="009B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009B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일반적인 값</a:t>
                      </a:r>
                    </a:p>
                  </a:txBody>
                  <a:tcPr>
                    <a:solidFill>
                      <a:srgbClr val="009BA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Awb0AssociatedElem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AWC에서 연관 요소 표시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true/false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Awb0EnableViewForType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타입별 뷰 활성화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true/false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Awb0BusinessObject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AWC 비즈니스 오브젝트 설정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aws2 템플릿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Awb0DatasetTypeToBeCreated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생성할 Dataset 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타입명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Awb0EnableCreateForType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타입 생성 활성화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true/false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Awb0EnableSubmitFlow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제출 워크플로우 활성화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true/false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Awb0SearchClassifySupport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검색/분류 지원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true/false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7. BMIDE 메뉴 기능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9BA5"/>
                </a:solidFill>
              </a:defRPr>
            </a:pPr>
            <a:r>
              <a:t>BMIDE 메뉴 구성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000" b="1">
                <a:solidFill>
                  <a:srgbClr val="003C71"/>
                </a:solidFill>
              </a:defRPr>
            </a:pPr>
            <a:r>
              <a:t>주요 메뉴 항목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New Model Element (Ctrl+N) - 새 모델 요소 생성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New Composite Software Project - 복합 소프트웨어 프로젝트 생성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Find - 요소 검색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Save Data Model (Ctrl+Shift+S) - 데이터 모델 저장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Reload Data Model - 데이터 모델 새로고침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Generate Software Package - 소프트웨어 패키지 생성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Deploy Template (Ctrl+Shift+D) - 템플릿 배포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7-1. BMIDE 메뉴 상세 기능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9BA5"/>
                </a:solidFill>
              </a:defRPr>
            </a:pPr>
            <a:r>
              <a:t>Live Update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실시간으로 서버에 변경사항 반영 (개발 중 테스트용)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000" b="1">
                <a:solidFill>
                  <a:srgbClr val="009BA5"/>
                </a:solidFill>
              </a:defRPr>
            </a:pPr>
            <a:r>
              <a:t>Editors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다양한 에디터 도구 접근 (Property Editor, LOV Editor 등)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000" b="1">
                <a:solidFill>
                  <a:srgbClr val="009BA5"/>
                </a:solidFill>
              </a:defRPr>
            </a:pPr>
            <a:r>
              <a:t>Organize Extensions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확장 모듈 관리 및 구성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000" b="1">
                <a:solidFill>
                  <a:srgbClr val="009BA5"/>
                </a:solidFill>
              </a:defRPr>
            </a:pPr>
            <a:r>
              <a:t>Upgrade Tools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버전 업그레이드 지원 도구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000" b="1">
                <a:solidFill>
                  <a:srgbClr val="009BA5"/>
                </a:solidFill>
              </a:defRPr>
            </a:pPr>
            <a:r>
              <a:t>Tools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추가 유틸리티 도구 모음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000" b="1">
                <a:solidFill>
                  <a:srgbClr val="009BA5"/>
                </a:solidFill>
              </a:defRPr>
            </a:pPr>
            <a:r>
              <a:t>Reports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데이터 모델 리포트 생성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8. 주요 버튼 및 툴바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버튼/아이콘</a:t>
                      </a:r>
                    </a:p>
                  </a:txBody>
                  <a:tcPr>
                    <a:solidFill>
                      <a:srgbClr val="009B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기능</a:t>
                      </a:r>
                    </a:p>
                  </a:txBody>
                  <a:tcPr>
                    <a:solidFill>
                      <a:srgbClr val="009B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단축키</a:t>
                      </a:r>
                    </a:p>
                  </a:txBody>
                  <a:tcPr>
                    <a:solidFill>
                      <a:srgbClr val="009BA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💾 Save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현재 편집 내용 저장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Ctrl+S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📁 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파일/프로젝트 열기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Ctrl+O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🔄 Refresh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뷰 새로고침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F5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▶ 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실행/배포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🔍 Search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검색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Ctrl+H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📋 Copy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복사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Ctrl+C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📝 Paste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붙여넣기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Ctrl+V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↩ Undo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실행 취소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Ctrl+Z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↪ Redo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다시 실행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Ctrl+Y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🔧 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속성 창 열기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Alt+Enter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9. BMIDE 개발 워크플로우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9BA5"/>
                </a:solidFill>
              </a:defRPr>
            </a:pPr>
            <a:r>
              <a:t>일반적인 개발 순서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800" b="1">
                <a:solidFill>
                  <a:srgbClr val="003C71"/>
                </a:solidFill>
              </a:defRPr>
            </a:pPr>
            <a:r>
              <a:t>Step 1: 프로젝트 생성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   New Composite Software Project로 커스텀 프로젝트 생성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800" b="1">
                <a:solidFill>
                  <a:srgbClr val="003C71"/>
                </a:solidFill>
              </a:defRPr>
            </a:pPr>
            <a:r>
              <a:t>Step 2: Business Object 정의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   Item 또는 다른 타입을 상속하여 새 오브젝트 생성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800" b="1">
                <a:solidFill>
                  <a:srgbClr val="003C71"/>
                </a:solidFill>
              </a:defRPr>
            </a:pPr>
            <a:r>
              <a:t>Step 3: 속성 및 관계 설정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   Properties 탭에서 사용자 정의 속성 추가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800" b="1">
                <a:solidFill>
                  <a:srgbClr val="003C71"/>
                </a:solidFill>
              </a:defRPr>
            </a:pPr>
            <a:r>
              <a:t>Step 4: 데이터 모델 저장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   Save Data Model로 변경사항 저장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800" b="1">
                <a:solidFill>
                  <a:srgbClr val="003C71"/>
                </a:solidFill>
              </a:defRPr>
            </a:pPr>
            <a:r>
              <a:t>Step 5: 패키지 생성 및 배포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   Generate Software Package → Deploy Template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10. 요약 및 참고사항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09BA5"/>
                </a:solidFill>
              </a:defRPr>
            </a:pPr>
            <a:r>
              <a:t>BMIDE 핵심 포인트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Eclipse 기반으로 친숙한 IDE 환경 제공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트리 구조로 Business Object 계층 관리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다양한 탭을 통해 오브젝트의 모든 측면 설정 가능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Live Update로 개발 중 실시간 테스트 가능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000" b="1">
                <a:solidFill>
                  <a:srgbClr val="C85050"/>
                </a:solidFill>
              </a:defRPr>
            </a:pPr>
            <a:r>
              <a:t>주의사항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데이터 모델 변경 시 반드시 저장 후 배포 필요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운영 서버 반영 전 테스트 환경에서 충분한 검증 필요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상속 관계 변경 시 하위 오브젝트에 영향 주의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000" b="1">
                <a:solidFill>
                  <a:srgbClr val="009BA5"/>
                </a:solidFill>
              </a:defRPr>
            </a:pPr>
            <a:r>
              <a:t>참고 문서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Teamcenter BMIDE Guide (공식 매뉴얼)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t>• Siemens Support Center (기술 지원)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